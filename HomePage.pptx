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Garet Bold" panose="020B0604020202020204" charset="0"/>
      <p:regular r:id="rId9"/>
    </p:embeddedFont>
    <p:embeddedFont>
      <p:font typeface="IRANSans" panose="02040503050201020203" pitchFamily="18" charset="-78"/>
      <p:regular r:id="rId10"/>
      <p:bold r:id="rId11"/>
    </p:embeddedFont>
    <p:embeddedFont>
      <p:font typeface="Public Sans Bold" panose="020B0604020202020204" charset="0"/>
      <p:regular r:id="rId12"/>
    </p:embeddedFont>
    <p:embeddedFont>
      <p:font typeface="Titr" pitchFamily="2" charset="-78"/>
      <p:regular r:id="rId13"/>
    </p:embeddedFont>
    <p:embeddedFont>
      <p:font typeface="Vazirmatn Bold" panose="020B0604020202020204" charset="-78"/>
      <p:regular r:id="rId14"/>
    </p:embeddedFont>
    <p:embeddedFont>
      <p:font typeface="XB Titre" panose="020B0604020202020204" charset="-7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3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bonyadmaskan.github.io/Provinces/ProvincesHome.html" TargetMode="External"/><Relationship Id="rId18" Type="http://schemas.openxmlformats.org/officeDocument/2006/relationships/image" Target="../media/image9.png"/><Relationship Id="rId26" Type="http://schemas.openxmlformats.org/officeDocument/2006/relationships/image" Target="../media/image15.svg"/><Relationship Id="rId3" Type="http://schemas.openxmlformats.org/officeDocument/2006/relationships/hyperlink" Target="https://bonyadmaskan.github.io/Systems/AI/Dashboard.html" TargetMode="External"/><Relationship Id="rId21" Type="http://schemas.openxmlformats.org/officeDocument/2006/relationships/hyperlink" Target="https://bonyadmaskan.github.io/Systems/OverView/CentralCouncil.html" TargetMode="External"/><Relationship Id="rId34" Type="http://schemas.openxmlformats.org/officeDocument/2006/relationships/image" Target="../media/image20.gif"/><Relationship Id="rId7" Type="http://schemas.openxmlformats.org/officeDocument/2006/relationships/hyperlink" Target="https://bonyadmaskan.github.io/Systems/OverView/NewsView.html" TargetMode="External"/><Relationship Id="rId12" Type="http://schemas.openxmlformats.org/officeDocument/2006/relationships/image" Target="../media/image6.png"/><Relationship Id="rId17" Type="http://schemas.openxmlformats.org/officeDocument/2006/relationships/hyperlink" Target="https://bonyadmaskan.github.io/Headquarters/Units/Legal-HR.html" TargetMode="External"/><Relationship Id="rId25" Type="http://schemas.openxmlformats.org/officeDocument/2006/relationships/image" Target="../media/image14.png"/><Relationship Id="rId33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hyperlink" Target="https://bonyadmaskan.github.io/Systems/OverView/ProjectStatus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bonyadmaskan.github.io/Headquarters/Units/HeadquartersDash.html" TargetMode="External"/><Relationship Id="rId24" Type="http://schemas.openxmlformats.org/officeDocument/2006/relationships/image" Target="../media/image13.svg"/><Relationship Id="rId32" Type="http://schemas.openxmlformats.org/officeDocument/2006/relationships/image" Target="../media/image18.gif"/><Relationship Id="rId5" Type="http://schemas.openxmlformats.org/officeDocument/2006/relationships/hyperlink" Target="https://bonyadmaskan.github.io/Subsidiaries/SubsidiariesPage.html" TargetMode="External"/><Relationship Id="rId15" Type="http://schemas.openxmlformats.org/officeDocument/2006/relationships/hyperlink" Target="https://bonyadmaskan.github.io/Systems/OverView/ContactBoss.html" TargetMode="External"/><Relationship Id="rId23" Type="http://schemas.openxmlformats.org/officeDocument/2006/relationships/image" Target="../media/image12.png"/><Relationship Id="rId28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hyperlink" Target="https://bonyadmaskan.github.io/Systems/OverView/ParlGov.html" TargetMode="External"/><Relationship Id="rId31" Type="http://schemas.openxmlformats.org/officeDocument/2006/relationships/hyperlink" Target="https://bonyadmaskan.github.io/Systems/OverView/Monitoring.html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bonyadmaskan.github.io/Systems/OverView/Systems.html" TargetMode="Externa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hyperlink" Target="https://bonyadmaskan.github.io/Evaluation/EvaluateHome.html" TargetMode="External"/><Relationship Id="rId30" Type="http://schemas.openxmlformats.org/officeDocument/2006/relationships/image" Target="../media/image17.png"/><Relationship Id="rId35" Type="http://schemas.openxmlformats.org/officeDocument/2006/relationships/hyperlink" Target="https://bonyadmaskan.github.io/Systems/OverView/Alert.html" TargetMode="External"/><Relationship Id="rId8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0.png"/><Relationship Id="rId18" Type="http://schemas.openxmlformats.org/officeDocument/2006/relationships/image" Target="../media/image35.svg"/><Relationship Id="rId3" Type="http://schemas.openxmlformats.org/officeDocument/2006/relationships/image" Target="../media/image22.png"/><Relationship Id="rId21" Type="http://schemas.openxmlformats.org/officeDocument/2006/relationships/image" Target="../media/image38.jpeg"/><Relationship Id="rId7" Type="http://schemas.openxmlformats.org/officeDocument/2006/relationships/image" Target="../media/image26.png"/><Relationship Id="rId12" Type="http://schemas.openxmlformats.org/officeDocument/2006/relationships/hyperlink" Target="https://bonyadmaskan.github.io/Systems/AI/InterviewAnalysis_2.html" TargetMode="External"/><Relationship Id="rId17" Type="http://schemas.openxmlformats.org/officeDocument/2006/relationships/image" Target="../media/image34.png"/><Relationship Id="rId2" Type="http://schemas.openxmlformats.org/officeDocument/2006/relationships/image" Target="../media/image21.jpeg"/><Relationship Id="rId16" Type="http://schemas.openxmlformats.org/officeDocument/2006/relationships/image" Target="../media/image33.svg"/><Relationship Id="rId20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hyperlink" Target="https://bonyadmaskan.github.io/Systems/AI/InterviewAnalysis.html" TargetMode="External"/><Relationship Id="rId5" Type="http://schemas.openxmlformats.org/officeDocument/2006/relationships/image" Target="../media/image24.png"/><Relationship Id="rId15" Type="http://schemas.openxmlformats.org/officeDocument/2006/relationships/image" Target="../media/image32.png"/><Relationship Id="rId10" Type="http://schemas.openxmlformats.org/officeDocument/2006/relationships/image" Target="../media/image29.svg"/><Relationship Id="rId19" Type="http://schemas.openxmlformats.org/officeDocument/2006/relationships/image" Target="../media/image36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1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hyperlink" Target="https://bonyadmaskan.github.io/Systems/OverView/HrmView.html" TargetMode="External"/><Relationship Id="rId26" Type="http://schemas.openxmlformats.org/officeDocument/2006/relationships/image" Target="../media/image12.png"/><Relationship Id="rId39" Type="http://schemas.openxmlformats.org/officeDocument/2006/relationships/image" Target="../media/image51.png"/><Relationship Id="rId21" Type="http://schemas.openxmlformats.org/officeDocument/2006/relationships/image" Target="../media/image17.pn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hyperlink" Target="https://bonyadmaskan.github.io/Systems/OverView/ContactBoss.html" TargetMode="External"/><Relationship Id="rId20" Type="http://schemas.openxmlformats.org/officeDocument/2006/relationships/hyperlink" Target="https://bonyadmaskan.github.io/Systems/OverView/GisView.html" TargetMode="External"/><Relationship Id="rId29" Type="http://schemas.openxmlformats.org/officeDocument/2006/relationships/image" Target="../media/image15.sv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onyadmaskan.github.io/Systems/OverView/NewsView.html" TargetMode="External"/><Relationship Id="rId11" Type="http://schemas.openxmlformats.org/officeDocument/2006/relationships/image" Target="../media/image5.png"/><Relationship Id="rId24" Type="http://schemas.openxmlformats.org/officeDocument/2006/relationships/hyperlink" Target="https://bonyadmaskan.github.io/Systems/OverView/CentralCouncil.html" TargetMode="External"/><Relationship Id="rId32" Type="http://schemas.openxmlformats.org/officeDocument/2006/relationships/image" Target="../media/image44.jpe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23" Type="http://schemas.openxmlformats.org/officeDocument/2006/relationships/image" Target="../media/image40.png"/><Relationship Id="rId28" Type="http://schemas.openxmlformats.org/officeDocument/2006/relationships/image" Target="../media/image14.png"/><Relationship Id="rId36" Type="http://schemas.openxmlformats.org/officeDocument/2006/relationships/image" Target="../media/image48.png"/><Relationship Id="rId10" Type="http://schemas.openxmlformats.org/officeDocument/2006/relationships/hyperlink" Target="https://bonyadmaskan.github.io/Systems/OverView/SystemsView.html" TargetMode="External"/><Relationship Id="rId19" Type="http://schemas.openxmlformats.org/officeDocument/2006/relationships/image" Target="../media/image9.png"/><Relationship Id="rId31" Type="http://schemas.openxmlformats.org/officeDocument/2006/relationships/image" Target="../media/image43.jpeg"/><Relationship Id="rId44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16.png"/><Relationship Id="rId14" Type="http://schemas.openxmlformats.org/officeDocument/2006/relationships/hyperlink" Target="https://bonyadmaskan.github.io/Systems/OverView/ProvincesView.html" TargetMode="External"/><Relationship Id="rId22" Type="http://schemas.openxmlformats.org/officeDocument/2006/relationships/hyperlink" Target="https://bonyadmaskan.github.io/Systems/OverView/ParlemanPage.html" TargetMode="External"/><Relationship Id="rId27" Type="http://schemas.openxmlformats.org/officeDocument/2006/relationships/image" Target="../media/image13.sv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55.png"/><Relationship Id="rId8" Type="http://schemas.openxmlformats.org/officeDocument/2006/relationships/hyperlink" Target="https://bonyadmaskan.github.io/Systems/OverView/Monitoring.html" TargetMode="External"/><Relationship Id="rId3" Type="http://schemas.openxmlformats.org/officeDocument/2006/relationships/hyperlink" Target="https://bonyadmaskan.github.io/Systems/OverView/GoverView.html" TargetMode="External"/><Relationship Id="rId12" Type="http://schemas.openxmlformats.org/officeDocument/2006/relationships/hyperlink" Target="https://bonyadmaskan.github.io/Systems/OverView/UnitsView.html" TargetMode="External"/><Relationship Id="rId17" Type="http://schemas.openxmlformats.org/officeDocument/2006/relationships/image" Target="../media/image8.png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0025" y="0"/>
            <a:ext cx="5924550" cy="6858000"/>
          </a:xfrm>
          <a:custGeom>
            <a:avLst/>
            <a:gdLst/>
            <a:ahLst/>
            <a:cxnLst/>
            <a:rect l="l" t="t" r="r" b="b"/>
            <a:pathLst>
              <a:path w="5924550" h="6858000">
                <a:moveTo>
                  <a:pt x="5924550" y="0"/>
                </a:moveTo>
                <a:lnTo>
                  <a:pt x="0" y="0"/>
                </a:lnTo>
                <a:lnTo>
                  <a:pt x="0" y="6858000"/>
                </a:lnTo>
                <a:lnTo>
                  <a:pt x="5924550" y="6858000"/>
                </a:lnTo>
                <a:lnTo>
                  <a:pt x="592455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116155" r="-276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93459" y="0"/>
            <a:ext cx="5877604" cy="6858000"/>
          </a:xfrm>
          <a:custGeom>
            <a:avLst/>
            <a:gdLst/>
            <a:ahLst/>
            <a:cxnLst/>
            <a:rect l="l" t="t" r="r" b="b"/>
            <a:pathLst>
              <a:path w="5877604" h="6858000">
                <a:moveTo>
                  <a:pt x="0" y="0"/>
                </a:moveTo>
                <a:lnTo>
                  <a:pt x="5877604" y="0"/>
                </a:lnTo>
                <a:lnTo>
                  <a:pt x="587760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117882" r="-2789"/>
            </a:stretch>
          </a:blipFill>
        </p:spPr>
      </p:sp>
      <p:sp>
        <p:nvSpPr>
          <p:cNvPr id="4" name="Freeform 4">
            <a:hlinkClick r:id="rId3" tooltip="https://bonyadmaskan.github.io/Systems/AI/Dashboard.html"/>
          </p:cNvPr>
          <p:cNvSpPr/>
          <p:nvPr/>
        </p:nvSpPr>
        <p:spPr>
          <a:xfrm>
            <a:off x="8549949" y="2682274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</p:sp>
      <p:sp>
        <p:nvSpPr>
          <p:cNvPr id="5" name="Freeform 5">
            <a:hlinkClick r:id="rId5" tooltip="https://bonyadmaskan.github.io/Subsidiaries/SubsidiariesPage.html"/>
          </p:cNvPr>
          <p:cNvSpPr/>
          <p:nvPr/>
        </p:nvSpPr>
        <p:spPr>
          <a:xfrm>
            <a:off x="2472714" y="2623341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3"/>
                </a:lnTo>
                <a:lnTo>
                  <a:pt x="0" y="14553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" b="-8"/>
            </a:stretch>
          </a:blipFill>
        </p:spPr>
      </p:sp>
      <p:sp>
        <p:nvSpPr>
          <p:cNvPr id="6" name="Freeform 6">
            <a:hlinkClick r:id="rId7" tooltip="https://bonyadmaskan.github.io/Systems/OverView/NewsView.html"/>
          </p:cNvPr>
          <p:cNvSpPr/>
          <p:nvPr/>
        </p:nvSpPr>
        <p:spPr>
          <a:xfrm>
            <a:off x="3175337" y="4018586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3"/>
                </a:lnTo>
                <a:lnTo>
                  <a:pt x="0" y="14553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" b="-8"/>
            </a:stretch>
          </a:blipFill>
        </p:spPr>
      </p:sp>
      <p:sp>
        <p:nvSpPr>
          <p:cNvPr id="7" name="Freeform 7">
            <a:hlinkClick r:id="rId9" tooltip="https://bonyadmaskan.github.io/Systems/OverView/Systems.html"/>
          </p:cNvPr>
          <p:cNvSpPr/>
          <p:nvPr/>
        </p:nvSpPr>
        <p:spPr>
          <a:xfrm>
            <a:off x="7065851" y="5263551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8" b="-8"/>
            </a:stretch>
          </a:blipFill>
        </p:spPr>
      </p:sp>
      <p:sp>
        <p:nvSpPr>
          <p:cNvPr id="8" name="Freeform 8">
            <a:hlinkClick r:id="rId11" tooltip="https://bonyadmaskan.github.io/Headquarters/Units/HeadquartersDash.html"/>
          </p:cNvPr>
          <p:cNvSpPr/>
          <p:nvPr/>
        </p:nvSpPr>
        <p:spPr>
          <a:xfrm>
            <a:off x="5540769" y="5263551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8" b="-8"/>
            </a:stretch>
          </a:blipFill>
        </p:spPr>
      </p:sp>
      <p:sp>
        <p:nvSpPr>
          <p:cNvPr id="9" name="Freeform 9">
            <a:hlinkClick r:id="rId13" tooltip="https://bonyadmaskan.github.io/Provinces/ProvincesHome.html"/>
          </p:cNvPr>
          <p:cNvSpPr/>
          <p:nvPr/>
        </p:nvSpPr>
        <p:spPr>
          <a:xfrm>
            <a:off x="7875078" y="4039336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8" b="-8"/>
            </a:stretch>
          </a:blipFill>
        </p:spPr>
      </p:sp>
      <p:sp>
        <p:nvSpPr>
          <p:cNvPr id="10" name="Freeform 10">
            <a:hlinkClick r:id="rId15" tooltip="https://bonyadmaskan.github.io/Systems/OverView/ContactBoss.html"/>
          </p:cNvPr>
          <p:cNvSpPr/>
          <p:nvPr/>
        </p:nvSpPr>
        <p:spPr>
          <a:xfrm>
            <a:off x="6998326" y="64975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" b="-8"/>
            </a:stretch>
          </a:blipFill>
        </p:spPr>
      </p:sp>
      <p:sp>
        <p:nvSpPr>
          <p:cNvPr id="11" name="Freeform 11">
            <a:hlinkClick r:id="rId17" tooltip="https://bonyadmaskan.github.io/Headquarters/Units/Legal-HR.html"/>
          </p:cNvPr>
          <p:cNvSpPr/>
          <p:nvPr/>
        </p:nvSpPr>
        <p:spPr>
          <a:xfrm>
            <a:off x="7854328" y="1258915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8" b="-8"/>
            </a:stretch>
          </a:blipFill>
        </p:spPr>
      </p:sp>
      <p:sp>
        <p:nvSpPr>
          <p:cNvPr id="12" name="Freeform 12">
            <a:hlinkClick r:id="rId19" tooltip="https://bonyadmaskan.github.io/Systems/OverView/ParlGov.html"/>
          </p:cNvPr>
          <p:cNvSpPr/>
          <p:nvPr/>
        </p:nvSpPr>
        <p:spPr>
          <a:xfrm>
            <a:off x="4002939" y="74500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8" b="-8"/>
            </a:stretch>
          </a:blipFill>
        </p:spPr>
      </p:sp>
      <p:sp>
        <p:nvSpPr>
          <p:cNvPr id="13" name="Freeform 13">
            <a:hlinkClick r:id="rId21" tooltip="https://bonyadmaskan.github.io/Systems/OverView/CentralCouncil.html"/>
          </p:cNvPr>
          <p:cNvSpPr/>
          <p:nvPr/>
        </p:nvSpPr>
        <p:spPr>
          <a:xfrm>
            <a:off x="5496183" y="51262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3" y="0"/>
                </a:lnTo>
                <a:lnTo>
                  <a:pt x="1349743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34" r="-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281970" y="4741358"/>
            <a:ext cx="2316344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عملکرد استانی 🔹 شاخص‌های توسعه و عمران 🔹 وضعیت پروژه‌ها 🔹 منابع و اعتبارات 🔹 ارزیابی مدیران استانی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13" tooltip="https://bonyadmaskan.github.io/Provinces/ProvincesHome.html"/>
              <a:rtl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1613896" y="1012562"/>
            <a:ext cx="443706" cy="550877"/>
          </a:xfrm>
          <a:custGeom>
            <a:avLst/>
            <a:gdLst/>
            <a:ahLst/>
            <a:cxnLst/>
            <a:rect l="l" t="t" r="r" b="b"/>
            <a:pathLst>
              <a:path w="443706" h="550877">
                <a:moveTo>
                  <a:pt x="0" y="0"/>
                </a:moveTo>
                <a:lnTo>
                  <a:pt x="443706" y="0"/>
                </a:lnTo>
                <a:lnTo>
                  <a:pt x="443706" y="550877"/>
                </a:lnTo>
                <a:lnTo>
                  <a:pt x="0" y="55087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240729" y="5208934"/>
            <a:ext cx="2204087" cy="2216175"/>
          </a:xfrm>
          <a:custGeom>
            <a:avLst/>
            <a:gdLst/>
            <a:ahLst/>
            <a:cxnLst/>
            <a:rect l="l" t="t" r="r" b="b"/>
            <a:pathLst>
              <a:path w="2204087" h="2216175">
                <a:moveTo>
                  <a:pt x="0" y="0"/>
                </a:moveTo>
                <a:lnTo>
                  <a:pt x="2204087" y="0"/>
                </a:lnTo>
                <a:lnTo>
                  <a:pt x="2204087" y="2216175"/>
                </a:lnTo>
                <a:lnTo>
                  <a:pt x="0" y="221617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-1246728" y="5208934"/>
            <a:ext cx="2204087" cy="2216175"/>
          </a:xfrm>
          <a:custGeom>
            <a:avLst/>
            <a:gdLst/>
            <a:ahLst/>
            <a:cxnLst/>
            <a:rect l="l" t="t" r="r" b="b"/>
            <a:pathLst>
              <a:path w="2204087" h="2216175">
                <a:moveTo>
                  <a:pt x="2204087" y="0"/>
                </a:moveTo>
                <a:lnTo>
                  <a:pt x="0" y="0"/>
                </a:lnTo>
                <a:lnTo>
                  <a:pt x="0" y="2216175"/>
                </a:lnTo>
                <a:lnTo>
                  <a:pt x="2204087" y="2216175"/>
                </a:lnTo>
                <a:lnTo>
                  <a:pt x="2204087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18">
            <a:hlinkClick r:id="rId27" tooltip="https://bonyadmaskan.github.io/Evaluation/EvaluateHome.html"/>
          </p:cNvPr>
          <p:cNvSpPr/>
          <p:nvPr/>
        </p:nvSpPr>
        <p:spPr>
          <a:xfrm>
            <a:off x="3244493" y="1288000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3"/>
                </a:lnTo>
                <a:lnTo>
                  <a:pt x="0" y="145535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t="-8" b="-8"/>
            </a:stretch>
          </a:blipFill>
        </p:spPr>
      </p:sp>
      <p:sp>
        <p:nvSpPr>
          <p:cNvPr id="19" name="Freeform 19">
            <a:hlinkClick r:id="rId29" tooltip="https://bonyadmaskan.github.io/Systems/OverView/ProjectStatus.html"/>
          </p:cNvPr>
          <p:cNvSpPr/>
          <p:nvPr/>
        </p:nvSpPr>
        <p:spPr>
          <a:xfrm>
            <a:off x="4010292" y="5249993"/>
            <a:ext cx="1349743" cy="1455352"/>
          </a:xfrm>
          <a:custGeom>
            <a:avLst/>
            <a:gdLst/>
            <a:ahLst/>
            <a:cxnLst/>
            <a:rect l="l" t="t" r="r" b="b"/>
            <a:pathLst>
              <a:path w="1349743" h="1455352">
                <a:moveTo>
                  <a:pt x="0" y="0"/>
                </a:moveTo>
                <a:lnTo>
                  <a:pt x="1349742" y="0"/>
                </a:lnTo>
                <a:lnTo>
                  <a:pt x="1349742" y="1455352"/>
                </a:lnTo>
                <a:lnTo>
                  <a:pt x="0" y="145535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t="-8" b="-8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857430" y="116307"/>
            <a:ext cx="1981349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تعاملات پارلمانی و دولتی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19" tooltip="https://bonyadmaskan.github.io/Systems/OverView/ParlGov.html"/>
              <a:rtl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69762" y="1589003"/>
            <a:ext cx="161020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36297" lvl="1" algn="ctr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امور پرسنلی و حقوقی</a:t>
            </a:r>
            <a:r>
              <a:rPr lang="en-US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 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17" tooltip="https://bonyadmaskan.github.io/Headquarters/Units/Legal-HR.html"/>
              <a:rtl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70303" y="4450850"/>
            <a:ext cx="1182142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امور استان‌ها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13" tooltip="https://bonyadmaskan.github.io/Provinces/ProvincesHome.html"/>
              <a:rtl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74867" y="5746837"/>
            <a:ext cx="189994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سامانه‌های بنیاد مسکن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9" tooltip="https://bonyadmaskan.github.io/Systems/OverView/Systems.html"/>
              <a:rtl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51897" y="424608"/>
            <a:ext cx="248670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پایش طرح‌ها و لوایح 🔹 تحلیل مواضع نمایندگان 🔹 تعامل با وزارتخانه‌ها و استانداری‌ها 🔹 گزارش تعاملات استانی 🔹 بانک دیدگاه‌ها و پیشنهادات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19" tooltip="https://bonyadmaskan.github.io/Systems/OverView/ParlGov.html"/>
              <a:rtl/>
            </a:endParaRPr>
          </a:p>
          <a:p>
            <a:pPr algn="ctr" rtl="1">
              <a:lnSpc>
                <a:spcPts val="1350"/>
              </a:lnSpc>
            </a:pP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19" tooltip="https://bonyadmaskan.github.io/Systems/OverView/ParlGov.html"/>
              <a:rtl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415320" y="1878801"/>
            <a:ext cx="2118900" cy="52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پرونده‌های حقوقی 🔹 ارزشیابی کارکنان 🔹 وضعیت استخدامی 🔹 آموزش و ارتقاء 🔹 بانک اطلاعات نیروی انسانی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17" tooltip="https://bonyadmaskan.github.io/Headquarters/Units/Legal-HR.html"/>
              <a:rtl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74015" y="6073238"/>
            <a:ext cx="2233969" cy="528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پرتال اینترنتی 🔹 کتابخانه 🔹 سامانه </a:t>
            </a:r>
            <a:r>
              <a:rPr lang="en-US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</a:rPr>
              <a:t>GIS</a:t>
            </a: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 🔹 سامانه رصد 🔹 سامانه سماع 🔹 سامانه رفاهی 🔹 سامانه راهبر 🔹 نظام فنی روستایی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9" tooltip="https://bonyadmaskan.github.io/Systems/OverView/Systems.html"/>
              <a:rtl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947316" y="3107050"/>
            <a:ext cx="191062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🔹شناسایی ناهنجاری‌ها 🔹پایش و هشدار هوشمند 🔹تحلیل و ارائه پیشنهاد 🔹 طبقه‌بندی خودکار 🔹 پیش‌بینی و تولید سناریوهای آینده‌نگر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3" tooltip="https://bonyadmaskan.github.io/Systems/AI/Dashboard.html"/>
              <a:rtl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65981" y="3198837"/>
            <a:ext cx="2093548" cy="52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اطلاعات مالی و مدیرتی شرکت‌ها 🔹 عملکرد مجامع 🔹 پایش پروژه‌های سرمایه‌گذاری 🔹 عملکرد هیئت‌مدیره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5" tooltip="https://bonyadmaskan.github.io/Subsidiaries/SubsidiariesPage.html"/>
              <a:rtl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4257" y="4549646"/>
            <a:ext cx="2307251" cy="52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پایش اخبار و گزارش‌ها 🔹 تحلیل بازخورد رسانه‌ای 🔹 رسانه‌های فعال‌تر 🔹 تحلیل محتوای فضای مجازی 🔹 رضایت رسانه‌ها و افکار عمومی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7" tooltip="https://bonyadmaskan.github.io/Systems/OverView/NewsView.html"/>
              <a:rtl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216606" y="2835601"/>
            <a:ext cx="137204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هوش مصنوعی 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3" tooltip="https://bonyadmaskan.github.io/Systems/AI/Dashboard.html"/>
              <a:rtl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24838" y="2886409"/>
            <a:ext cx="181347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امور شرکت‌ها و مجامع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5" tooltip="https://bonyadmaskan.github.io/Subsidiaries/SubsidiariesPage.html"/>
              <a:rtl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77130" y="4233632"/>
            <a:ext cx="2276773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رسانه‌ها و شبکه‌های اجتماعی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7" tooltip="https://bonyadmaskan.github.io/Systems/OverView/NewsView.html"/>
              <a:rtl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40334" y="1873952"/>
            <a:ext cx="2307251" cy="52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شاخص‌های کلان عملکردی 🔹 گزارش دوره‌ای استان‌ها 🔹 تحلیل انحرافات 🔹 ارزیابی مدیران 🔹 نمودارها و داشبوردهای نظارتی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31" tooltip="https://bonyadmaskan.github.io/Systems/OverView/Monitoring.html"/>
              <a:rtl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77684" y="1547507"/>
            <a:ext cx="180111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پایش و ارزیابی عملکرد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27" tooltip="https://bonyadmaskan.github.io/Evaluation/EvaluateHome.html"/>
              <a:rtl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739086" y="5751635"/>
            <a:ext cx="197256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97" lvl="1" algn="ctr" rtl="1">
              <a:lnSpc>
                <a:spcPts val="1767"/>
              </a:lnSpc>
            </a:pPr>
            <a:r>
              <a:rPr lang="ar-EG" sz="1262" b="1" dirty="0">
                <a:solidFill>
                  <a:srgbClr val="1800AD"/>
                </a:solidFill>
                <a:latin typeface="IRANSans" panose="02040503050201020203" pitchFamily="18" charset="-78"/>
                <a:ea typeface="Canva Sans Bold"/>
                <a:cs typeface="IRANSans" panose="02040503050201020203" pitchFamily="18" charset="-78"/>
                <a:sym typeface="Canva Sans Bold"/>
                <a:rtl/>
              </a:rPr>
              <a:t>مدیریت و نظارت پروژه‌ها</a:t>
            </a:r>
            <a:endParaRPr lang="ar-EG" sz="1262" b="1" dirty="0">
              <a:solidFill>
                <a:srgbClr val="1800AD"/>
              </a:solidFill>
              <a:latin typeface="IRANSans" panose="02040503050201020203" pitchFamily="18" charset="-78"/>
              <a:ea typeface="Canva Sans Bold"/>
              <a:cs typeface="IRANSans" panose="02040503050201020203" pitchFamily="18" charset="-78"/>
              <a:sym typeface="Canva Sans Bold"/>
              <a:hlinkClick r:id="rId29" tooltip="https://bonyadmaskan.github.io/Systems/OverView/ProjectStatus.html"/>
              <a:rtl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481405" y="6073461"/>
            <a:ext cx="2364594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350"/>
              </a:lnSpc>
            </a:pPr>
            <a:r>
              <a:rPr lang="ar-EG" sz="900" dirty="0">
                <a:solidFill>
                  <a:srgbClr val="000000"/>
                </a:solidFill>
                <a:latin typeface="IRANSans" panose="02040503050201020203" pitchFamily="18" charset="-78"/>
                <a:ea typeface="Canva Sans"/>
                <a:cs typeface="IRANSans" panose="02040503050201020203" pitchFamily="18" charset="-78"/>
                <a:sym typeface="Canva Sans"/>
                <a:rtl/>
              </a:rPr>
              <a:t>🔹 نقشه پروژه‌ها 🔹 پیشرفت فیزیکی 🔹 تصاویر ماهواره‌ای 🔹 فیلتر استانی و موضوعی 🔹 رصد پروژه‌های کلیدی</a:t>
            </a:r>
            <a:endParaRPr lang="ar-EG" sz="900" dirty="0">
              <a:solidFill>
                <a:srgbClr val="000000"/>
              </a:solidFill>
              <a:latin typeface="IRANSans" panose="02040503050201020203" pitchFamily="18" charset="-78"/>
              <a:ea typeface="Canva Sans"/>
              <a:cs typeface="IRANSans" panose="02040503050201020203" pitchFamily="18" charset="-78"/>
              <a:sym typeface="Canva Sans"/>
              <a:hlinkClick r:id="rId29" tooltip="https://bonyadmaskan.github.io/Systems/OverView/ProjectStatus.html"/>
              <a:rtl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549949" y="90177"/>
            <a:ext cx="3451551" cy="885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907"/>
              </a:lnSpc>
            </a:pPr>
            <a:r>
              <a:rPr lang="ar-EG" sz="2056" dirty="0">
                <a:solidFill>
                  <a:srgbClr val="8F0800"/>
                </a:solidFill>
                <a:latin typeface="IRANSans" panose="02040503050201020203" pitchFamily="18" charset="-78"/>
                <a:ea typeface="XB Titre"/>
                <a:cs typeface="B Titr" panose="00000700000000000000" pitchFamily="2" charset="-78"/>
                <a:sym typeface="XB Titre"/>
                <a:rtl/>
              </a:rPr>
              <a:t>سامانه هوشمند مدیریتی ریاست</a:t>
            </a:r>
          </a:p>
          <a:p>
            <a:pPr algn="ctr" rtl="1">
              <a:lnSpc>
                <a:spcPts val="3348"/>
              </a:lnSpc>
            </a:pPr>
            <a:r>
              <a:rPr lang="ar-EG" sz="1762" dirty="0">
                <a:solidFill>
                  <a:srgbClr val="EC261A"/>
                </a:solidFill>
                <a:latin typeface="IRANSans" panose="02040503050201020203" pitchFamily="18" charset="-78"/>
                <a:ea typeface="XB Titre"/>
                <a:cs typeface="B Titr" panose="00000700000000000000" pitchFamily="2" charset="-78"/>
                <a:sym typeface="XB Titre"/>
                <a:rtl/>
              </a:rPr>
              <a:t>بنیاد مسکن انقلاب اسلامی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DB91198-C10D-4D9E-86DC-B5D358F8581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712" y="2574906"/>
            <a:ext cx="1931003" cy="1931003"/>
          </a:xfrm>
          <a:prstGeom prst="rect">
            <a:avLst/>
          </a:prstGeom>
        </p:spPr>
      </p:pic>
      <p:sp>
        <p:nvSpPr>
          <p:cNvPr id="25" name="Freeform 25"/>
          <p:cNvSpPr/>
          <p:nvPr/>
        </p:nvSpPr>
        <p:spPr>
          <a:xfrm>
            <a:off x="4767948" y="1938793"/>
            <a:ext cx="2835055" cy="3056882"/>
          </a:xfrm>
          <a:custGeom>
            <a:avLst/>
            <a:gdLst/>
            <a:ahLst/>
            <a:cxnLst/>
            <a:rect l="l" t="t" r="r" b="b"/>
            <a:pathLst>
              <a:path w="3780074" h="4075843">
                <a:moveTo>
                  <a:pt x="0" y="0"/>
                </a:moveTo>
                <a:lnTo>
                  <a:pt x="3780074" y="0"/>
                </a:lnTo>
                <a:lnTo>
                  <a:pt x="3780074" y="4075843"/>
                </a:lnTo>
                <a:lnTo>
                  <a:pt x="0" y="407584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9909429-AA92-4851-992A-7E8429039472}"/>
              </a:ext>
            </a:extLst>
          </p:cNvPr>
          <p:cNvGrpSpPr/>
          <p:nvPr/>
        </p:nvGrpSpPr>
        <p:grpSpPr>
          <a:xfrm>
            <a:off x="233160" y="163644"/>
            <a:ext cx="1114187" cy="1203466"/>
            <a:chOff x="233160" y="163644"/>
            <a:chExt cx="1114187" cy="12034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2698FC7-A7AB-4386-BB40-4BE7EADBE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50088"/>
            <a:stretch/>
          </p:blipFill>
          <p:spPr>
            <a:xfrm>
              <a:off x="250991" y="178646"/>
              <a:ext cx="1067543" cy="1156087"/>
            </a:xfrm>
            <a:prstGeom prst="rect">
              <a:avLst/>
            </a:prstGeom>
          </p:spPr>
        </p:pic>
        <p:sp>
          <p:nvSpPr>
            <p:cNvPr id="22" name="Freeform 22">
              <a:hlinkClick r:id="rId35" tooltip="https://bonyadmaskan.github.io/Systems/OverView/Alert.html"/>
            </p:cNvPr>
            <p:cNvSpPr/>
            <p:nvPr/>
          </p:nvSpPr>
          <p:spPr>
            <a:xfrm>
              <a:off x="233160" y="163644"/>
              <a:ext cx="1114187" cy="1203466"/>
            </a:xfrm>
            <a:custGeom>
              <a:avLst/>
              <a:gdLst/>
              <a:ahLst/>
              <a:cxnLst/>
              <a:rect l="l" t="t" r="r" b="b"/>
              <a:pathLst>
                <a:path w="1485582" h="1604621">
                  <a:moveTo>
                    <a:pt x="0" y="0"/>
                  </a:moveTo>
                  <a:lnTo>
                    <a:pt x="1485582" y="0"/>
                  </a:lnTo>
                  <a:lnTo>
                    <a:pt x="1485582" y="1604621"/>
                  </a:lnTo>
                  <a:lnTo>
                    <a:pt x="0" y="1604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159" r="-159" b="-161"/>
              </a:stretch>
            </a:blipFill>
          </p:spPr>
          <p:txBody>
            <a:bodyPr/>
            <a:lstStyle/>
            <a:p>
              <a:endParaRPr lang="en-US">
                <a:latin typeface="IRANSans" panose="02040503050201020203" pitchFamily="18" charset="-78"/>
                <a:cs typeface="IRANSans" panose="02040503050201020203" pitchFamily="18" charset="-78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043" y="992500"/>
              <a:ext cx="576359" cy="2180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41"/>
                </a:lnSpc>
              </a:pPr>
              <a:r>
                <a:rPr lang="en-US" sz="1244" b="1" spc="149" dirty="0">
                  <a:solidFill>
                    <a:srgbClr val="FFFFFF"/>
                  </a:solidFill>
                  <a:latin typeface="IRANSans" panose="02040503050201020203" pitchFamily="18" charset="-78"/>
                  <a:ea typeface="Arial Bold"/>
                  <a:cs typeface="IRANSans" panose="02040503050201020203" pitchFamily="18" charset="-78"/>
                  <a:sym typeface="Arial Bold"/>
                </a:rPr>
                <a:t>Alert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r="-10000"/>
            </a:stretch>
          </a:blipFill>
        </p:spPr>
      </p:sp>
      <p:sp>
        <p:nvSpPr>
          <p:cNvPr id="3" name="Freeform 3"/>
          <p:cNvSpPr/>
          <p:nvPr/>
        </p:nvSpPr>
        <p:spPr>
          <a:xfrm rot="7917483">
            <a:off x="9272043" y="-90326"/>
            <a:ext cx="3590848" cy="816918"/>
          </a:xfrm>
          <a:custGeom>
            <a:avLst/>
            <a:gdLst/>
            <a:ahLst/>
            <a:cxnLst/>
            <a:rect l="l" t="t" r="r" b="b"/>
            <a:pathLst>
              <a:path w="3590848" h="816918">
                <a:moveTo>
                  <a:pt x="0" y="0"/>
                </a:moveTo>
                <a:lnTo>
                  <a:pt x="3590849" y="0"/>
                </a:lnTo>
                <a:lnTo>
                  <a:pt x="3590849" y="816917"/>
                </a:lnTo>
                <a:lnTo>
                  <a:pt x="0" y="816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917483">
            <a:off x="10640615" y="498943"/>
            <a:ext cx="2541615" cy="578217"/>
          </a:xfrm>
          <a:custGeom>
            <a:avLst/>
            <a:gdLst/>
            <a:ahLst/>
            <a:cxnLst/>
            <a:rect l="l" t="t" r="r" b="b"/>
            <a:pathLst>
              <a:path w="2541615" h="578217">
                <a:moveTo>
                  <a:pt x="0" y="0"/>
                </a:moveTo>
                <a:lnTo>
                  <a:pt x="2541615" y="0"/>
                </a:lnTo>
                <a:lnTo>
                  <a:pt x="2541615" y="578217"/>
                </a:lnTo>
                <a:lnTo>
                  <a:pt x="0" y="5782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858088">
            <a:off x="5921555" y="6910478"/>
            <a:ext cx="5941736" cy="1351745"/>
          </a:xfrm>
          <a:custGeom>
            <a:avLst/>
            <a:gdLst/>
            <a:ahLst/>
            <a:cxnLst/>
            <a:rect l="l" t="t" r="r" b="b"/>
            <a:pathLst>
              <a:path w="5941736" h="1351745">
                <a:moveTo>
                  <a:pt x="0" y="0"/>
                </a:moveTo>
                <a:lnTo>
                  <a:pt x="5941737" y="0"/>
                </a:lnTo>
                <a:lnTo>
                  <a:pt x="5941737" y="1351745"/>
                </a:lnTo>
                <a:lnTo>
                  <a:pt x="0" y="1351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858088">
            <a:off x="6311240" y="6116115"/>
            <a:ext cx="3346051" cy="761227"/>
          </a:xfrm>
          <a:custGeom>
            <a:avLst/>
            <a:gdLst/>
            <a:ahLst/>
            <a:cxnLst/>
            <a:rect l="l" t="t" r="r" b="b"/>
            <a:pathLst>
              <a:path w="3346051" h="761227">
                <a:moveTo>
                  <a:pt x="0" y="0"/>
                </a:moveTo>
                <a:lnTo>
                  <a:pt x="3346051" y="0"/>
                </a:lnTo>
                <a:lnTo>
                  <a:pt x="3346051" y="761226"/>
                </a:lnTo>
                <a:lnTo>
                  <a:pt x="0" y="7612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596159" y="5211718"/>
            <a:ext cx="432730" cy="439389"/>
            <a:chOff x="0" y="0"/>
            <a:chExt cx="579535" cy="588453"/>
          </a:xfrm>
        </p:grpSpPr>
        <p:sp>
          <p:nvSpPr>
            <p:cNvPr id="8" name="Freeform 8"/>
            <p:cNvSpPr/>
            <p:nvPr/>
          </p:nvSpPr>
          <p:spPr>
            <a:xfrm>
              <a:off x="65977" y="67417"/>
              <a:ext cx="447582" cy="453619"/>
            </a:xfrm>
            <a:custGeom>
              <a:avLst/>
              <a:gdLst/>
              <a:ahLst/>
              <a:cxnLst/>
              <a:rect l="l" t="t" r="r" b="b"/>
              <a:pathLst>
                <a:path w="447582" h="453619">
                  <a:moveTo>
                    <a:pt x="336775" y="47306"/>
                  </a:moveTo>
                  <a:lnTo>
                    <a:pt x="400574" y="112087"/>
                  </a:lnTo>
                  <a:cubicBezTo>
                    <a:pt x="463251" y="175728"/>
                    <a:pt x="463251" y="277892"/>
                    <a:pt x="400574" y="341533"/>
                  </a:cubicBezTo>
                  <a:lnTo>
                    <a:pt x="336775" y="406314"/>
                  </a:lnTo>
                  <a:cubicBezTo>
                    <a:pt x="306969" y="436578"/>
                    <a:pt x="266268" y="453619"/>
                    <a:pt x="223791" y="453619"/>
                  </a:cubicBezTo>
                  <a:cubicBezTo>
                    <a:pt x="181314" y="453619"/>
                    <a:pt x="140612" y="436578"/>
                    <a:pt x="110806" y="406314"/>
                  </a:cubicBezTo>
                  <a:lnTo>
                    <a:pt x="47007" y="341533"/>
                  </a:lnTo>
                  <a:cubicBezTo>
                    <a:pt x="-15669" y="277892"/>
                    <a:pt x="-15669" y="175728"/>
                    <a:pt x="47007" y="112087"/>
                  </a:cubicBezTo>
                  <a:lnTo>
                    <a:pt x="110806" y="47306"/>
                  </a:lnTo>
                  <a:cubicBezTo>
                    <a:pt x="140612" y="17042"/>
                    <a:pt x="181314" y="0"/>
                    <a:pt x="223791" y="0"/>
                  </a:cubicBezTo>
                  <a:cubicBezTo>
                    <a:pt x="266268" y="0"/>
                    <a:pt x="306969" y="17042"/>
                    <a:pt x="336775" y="47306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D994E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99608" y="91615"/>
              <a:ext cx="380320" cy="395698"/>
            </a:xfrm>
            <a:prstGeom prst="rect">
              <a:avLst/>
            </a:prstGeom>
          </p:spPr>
          <p:txBody>
            <a:bodyPr lIns="4274" tIns="4274" rIns="4274" bIns="4274" rtlCol="0" anchor="ctr"/>
            <a:lstStyle/>
            <a:p>
              <a:pPr algn="ctr">
                <a:lnSpc>
                  <a:spcPts val="82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2087" y="5559047"/>
            <a:ext cx="3166739" cy="560033"/>
            <a:chOff x="0" y="0"/>
            <a:chExt cx="917388" cy="1622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7388" cy="162239"/>
            </a:xfrm>
            <a:custGeom>
              <a:avLst/>
              <a:gdLst/>
              <a:ahLst/>
              <a:cxnLst/>
              <a:rect l="l" t="t" r="r" b="b"/>
              <a:pathLst>
                <a:path w="917388" h="162239">
                  <a:moveTo>
                    <a:pt x="81119" y="0"/>
                  </a:moveTo>
                  <a:lnTo>
                    <a:pt x="836269" y="0"/>
                  </a:lnTo>
                  <a:cubicBezTo>
                    <a:pt x="857783" y="0"/>
                    <a:pt x="878416" y="8546"/>
                    <a:pt x="893629" y="23759"/>
                  </a:cubicBezTo>
                  <a:cubicBezTo>
                    <a:pt x="908842" y="38972"/>
                    <a:pt x="917388" y="59605"/>
                    <a:pt x="917388" y="81119"/>
                  </a:cubicBezTo>
                  <a:lnTo>
                    <a:pt x="917388" y="81119"/>
                  </a:lnTo>
                  <a:cubicBezTo>
                    <a:pt x="917388" y="102633"/>
                    <a:pt x="908842" y="123266"/>
                    <a:pt x="893629" y="138479"/>
                  </a:cubicBezTo>
                  <a:cubicBezTo>
                    <a:pt x="878416" y="153692"/>
                    <a:pt x="857783" y="162239"/>
                    <a:pt x="836269" y="162239"/>
                  </a:cubicBezTo>
                  <a:lnTo>
                    <a:pt x="81119" y="162239"/>
                  </a:lnTo>
                  <a:cubicBezTo>
                    <a:pt x="59605" y="162239"/>
                    <a:pt x="38972" y="153692"/>
                    <a:pt x="23759" y="138479"/>
                  </a:cubicBezTo>
                  <a:cubicBezTo>
                    <a:pt x="8546" y="123266"/>
                    <a:pt x="0" y="102633"/>
                    <a:pt x="0" y="81119"/>
                  </a:cubicBezTo>
                  <a:lnTo>
                    <a:pt x="0" y="81119"/>
                  </a:lnTo>
                  <a:cubicBezTo>
                    <a:pt x="0" y="59605"/>
                    <a:pt x="8546" y="38972"/>
                    <a:pt x="23759" y="23759"/>
                  </a:cubicBezTo>
                  <a:cubicBezTo>
                    <a:pt x="38972" y="8546"/>
                    <a:pt x="59605" y="0"/>
                    <a:pt x="81119" y="0"/>
                  </a:cubicBezTo>
                  <a:close/>
                </a:path>
              </a:pathLst>
            </a:custGeom>
            <a:solidFill>
              <a:srgbClr val="0A3FA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917388" cy="181289"/>
            </a:xfrm>
            <a:prstGeom prst="rect">
              <a:avLst/>
            </a:prstGeom>
          </p:spPr>
          <p:txBody>
            <a:bodyPr lIns="24166" tIns="24166" rIns="24166" bIns="24166" rtlCol="0" anchor="ctr"/>
            <a:lstStyle/>
            <a:p>
              <a:pPr algn="ctr">
                <a:lnSpc>
                  <a:spcPts val="119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58839" y="5559047"/>
            <a:ext cx="3166739" cy="560033"/>
            <a:chOff x="0" y="0"/>
            <a:chExt cx="917388" cy="1622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7388" cy="162239"/>
            </a:xfrm>
            <a:custGeom>
              <a:avLst/>
              <a:gdLst/>
              <a:ahLst/>
              <a:cxnLst/>
              <a:rect l="l" t="t" r="r" b="b"/>
              <a:pathLst>
                <a:path w="917388" h="162239">
                  <a:moveTo>
                    <a:pt x="81119" y="0"/>
                  </a:moveTo>
                  <a:lnTo>
                    <a:pt x="836269" y="0"/>
                  </a:lnTo>
                  <a:cubicBezTo>
                    <a:pt x="857783" y="0"/>
                    <a:pt x="878416" y="8546"/>
                    <a:pt x="893629" y="23759"/>
                  </a:cubicBezTo>
                  <a:cubicBezTo>
                    <a:pt x="908842" y="38972"/>
                    <a:pt x="917388" y="59605"/>
                    <a:pt x="917388" y="81119"/>
                  </a:cubicBezTo>
                  <a:lnTo>
                    <a:pt x="917388" y="81119"/>
                  </a:lnTo>
                  <a:cubicBezTo>
                    <a:pt x="917388" y="102633"/>
                    <a:pt x="908842" y="123266"/>
                    <a:pt x="893629" y="138479"/>
                  </a:cubicBezTo>
                  <a:cubicBezTo>
                    <a:pt x="878416" y="153692"/>
                    <a:pt x="857783" y="162239"/>
                    <a:pt x="836269" y="162239"/>
                  </a:cubicBezTo>
                  <a:lnTo>
                    <a:pt x="81119" y="162239"/>
                  </a:lnTo>
                  <a:cubicBezTo>
                    <a:pt x="59605" y="162239"/>
                    <a:pt x="38972" y="153692"/>
                    <a:pt x="23759" y="138479"/>
                  </a:cubicBezTo>
                  <a:cubicBezTo>
                    <a:pt x="8546" y="123266"/>
                    <a:pt x="0" y="102633"/>
                    <a:pt x="0" y="81119"/>
                  </a:cubicBezTo>
                  <a:lnTo>
                    <a:pt x="0" y="81119"/>
                  </a:lnTo>
                  <a:cubicBezTo>
                    <a:pt x="0" y="59605"/>
                    <a:pt x="8546" y="38972"/>
                    <a:pt x="23759" y="23759"/>
                  </a:cubicBezTo>
                  <a:cubicBezTo>
                    <a:pt x="38972" y="8546"/>
                    <a:pt x="59605" y="0"/>
                    <a:pt x="81119" y="0"/>
                  </a:cubicBezTo>
                  <a:close/>
                </a:path>
              </a:pathLst>
            </a:custGeom>
            <a:solidFill>
              <a:srgbClr val="0A3FA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917388" cy="181289"/>
            </a:xfrm>
            <a:prstGeom prst="rect">
              <a:avLst/>
            </a:prstGeom>
          </p:spPr>
          <p:txBody>
            <a:bodyPr lIns="24166" tIns="24166" rIns="24166" bIns="24166" rtlCol="0" anchor="ctr"/>
            <a:lstStyle/>
            <a:p>
              <a:pPr algn="ctr">
                <a:lnSpc>
                  <a:spcPts val="119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2087" y="5559047"/>
            <a:ext cx="560033" cy="56003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94E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4166" tIns="24166" rIns="24166" bIns="24166" rtlCol="0" anchor="ctr"/>
            <a:lstStyle/>
            <a:p>
              <a:pPr algn="ctr">
                <a:lnSpc>
                  <a:spcPts val="119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58839" y="5559047"/>
            <a:ext cx="560033" cy="56003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94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4166" tIns="24166" rIns="24166" bIns="24166" rtlCol="0" anchor="ctr"/>
            <a:lstStyle/>
            <a:p>
              <a:pPr algn="ctr">
                <a:lnSpc>
                  <a:spcPts val="1198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800000" flipH="1">
            <a:off x="565524" y="5634873"/>
            <a:ext cx="273159" cy="408381"/>
          </a:xfrm>
          <a:custGeom>
            <a:avLst/>
            <a:gdLst/>
            <a:ahLst/>
            <a:cxnLst/>
            <a:rect l="l" t="t" r="r" b="b"/>
            <a:pathLst>
              <a:path w="273159" h="408381">
                <a:moveTo>
                  <a:pt x="273159" y="0"/>
                </a:moveTo>
                <a:lnTo>
                  <a:pt x="0" y="0"/>
                </a:lnTo>
                <a:lnTo>
                  <a:pt x="0" y="408380"/>
                </a:lnTo>
                <a:lnTo>
                  <a:pt x="273159" y="408380"/>
                </a:lnTo>
                <a:lnTo>
                  <a:pt x="27315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10800000" flipH="1">
            <a:off x="4102276" y="5634873"/>
            <a:ext cx="273159" cy="408381"/>
          </a:xfrm>
          <a:custGeom>
            <a:avLst/>
            <a:gdLst/>
            <a:ahLst/>
            <a:cxnLst/>
            <a:rect l="l" t="t" r="r" b="b"/>
            <a:pathLst>
              <a:path w="273159" h="408381">
                <a:moveTo>
                  <a:pt x="273159" y="0"/>
                </a:moveTo>
                <a:lnTo>
                  <a:pt x="0" y="0"/>
                </a:lnTo>
                <a:lnTo>
                  <a:pt x="0" y="408380"/>
                </a:lnTo>
                <a:lnTo>
                  <a:pt x="273159" y="408380"/>
                </a:lnTo>
                <a:lnTo>
                  <a:pt x="27315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2728096" y="6365231"/>
            <a:ext cx="249536" cy="253375"/>
            <a:chOff x="0" y="0"/>
            <a:chExt cx="579535" cy="588453"/>
          </a:xfrm>
        </p:grpSpPr>
        <p:sp>
          <p:nvSpPr>
            <p:cNvPr id="25" name="Freeform 25"/>
            <p:cNvSpPr/>
            <p:nvPr/>
          </p:nvSpPr>
          <p:spPr>
            <a:xfrm>
              <a:off x="25425" y="25980"/>
              <a:ext cx="528685" cy="536493"/>
            </a:xfrm>
            <a:custGeom>
              <a:avLst/>
              <a:gdLst/>
              <a:ahLst/>
              <a:cxnLst/>
              <a:rect l="l" t="t" r="r" b="b"/>
              <a:pathLst>
                <a:path w="528685" h="536493">
                  <a:moveTo>
                    <a:pt x="307883" y="18230"/>
                  </a:moveTo>
                  <a:lnTo>
                    <a:pt x="510570" y="224037"/>
                  </a:lnTo>
                  <a:cubicBezTo>
                    <a:pt x="534724" y="248562"/>
                    <a:pt x="534724" y="287932"/>
                    <a:pt x="510570" y="312457"/>
                  </a:cubicBezTo>
                  <a:lnTo>
                    <a:pt x="307883" y="518263"/>
                  </a:lnTo>
                  <a:cubicBezTo>
                    <a:pt x="296397" y="529926"/>
                    <a:pt x="280712" y="536493"/>
                    <a:pt x="264343" y="536493"/>
                  </a:cubicBezTo>
                  <a:cubicBezTo>
                    <a:pt x="247974" y="536493"/>
                    <a:pt x="232289" y="529926"/>
                    <a:pt x="220803" y="518263"/>
                  </a:cubicBezTo>
                  <a:lnTo>
                    <a:pt x="18115" y="312457"/>
                  </a:lnTo>
                  <a:cubicBezTo>
                    <a:pt x="-6038" y="287932"/>
                    <a:pt x="-6038" y="248562"/>
                    <a:pt x="18115" y="224037"/>
                  </a:cubicBezTo>
                  <a:lnTo>
                    <a:pt x="220803" y="18230"/>
                  </a:lnTo>
                  <a:cubicBezTo>
                    <a:pt x="232289" y="6567"/>
                    <a:pt x="247974" y="0"/>
                    <a:pt x="264343" y="0"/>
                  </a:cubicBezTo>
                  <a:cubicBezTo>
                    <a:pt x="280712" y="0"/>
                    <a:pt x="296397" y="6567"/>
                    <a:pt x="307883" y="18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D994E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99608" y="91615"/>
              <a:ext cx="380320" cy="395698"/>
            </a:xfrm>
            <a:prstGeom prst="rect">
              <a:avLst/>
            </a:prstGeom>
          </p:spPr>
          <p:txBody>
            <a:bodyPr lIns="4274" tIns="4274" rIns="4274" bIns="4274" rtlCol="0" anchor="ctr"/>
            <a:lstStyle/>
            <a:p>
              <a:pPr algn="ctr">
                <a:lnSpc>
                  <a:spcPts val="827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1225368" y="6774745"/>
            <a:ext cx="452914" cy="148895"/>
          </a:xfrm>
          <a:custGeom>
            <a:avLst/>
            <a:gdLst/>
            <a:ahLst/>
            <a:cxnLst/>
            <a:rect l="l" t="t" r="r" b="b"/>
            <a:pathLst>
              <a:path w="452914" h="148895">
                <a:moveTo>
                  <a:pt x="0" y="0"/>
                </a:moveTo>
                <a:lnTo>
                  <a:pt x="452913" y="0"/>
                </a:lnTo>
                <a:lnTo>
                  <a:pt x="452913" y="148895"/>
                </a:lnTo>
                <a:lnTo>
                  <a:pt x="0" y="1488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851342" y="203123"/>
            <a:ext cx="4946197" cy="107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349"/>
              </a:lnSpc>
            </a:pPr>
            <a:r>
              <a:rPr lang="ar-EG" sz="2843" spc="227">
                <a:solidFill>
                  <a:srgbClr val="004AAD"/>
                </a:solidFill>
                <a:latin typeface="XB Titre"/>
                <a:ea typeface="XB Titre"/>
                <a:cs typeface="XB Titre"/>
                <a:sym typeface="XB Titre"/>
                <a:rtl/>
              </a:rPr>
              <a:t>پردازش و تحلیل هوشمند محتوای مصاحبه‌ها و گفتگوهای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02276" y="1685373"/>
            <a:ext cx="3404382" cy="441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865"/>
              </a:lnSpc>
            </a:pPr>
            <a:r>
              <a:rPr lang="ar-EG" sz="2045" spc="163">
                <a:solidFill>
                  <a:srgbClr val="2C7DDE"/>
                </a:solidFill>
                <a:latin typeface="XB Titre"/>
                <a:ea typeface="XB Titre"/>
                <a:cs typeface="XB Titre"/>
                <a:sym typeface="XB Titre"/>
                <a:rtl/>
              </a:rPr>
              <a:t>رئیس بنیاد مسکن انقلاب اسلامی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6363" y="5587248"/>
            <a:ext cx="2081320" cy="39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229"/>
              </a:lnSpc>
              <a:spcBef>
                <a:spcPct val="0"/>
              </a:spcBef>
            </a:pPr>
            <a:r>
              <a:rPr lang="ar-EG" sz="230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  <a:hlinkClick r:id="rId11" tooltip="https://bonyadmaskan.github.io/Systems/AI/InterviewAnalysis.html"/>
                <a:rtl/>
              </a:rPr>
              <a:t>گزارش مدیریتی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83115" y="5587248"/>
            <a:ext cx="2081320" cy="39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229"/>
              </a:lnSpc>
              <a:spcBef>
                <a:spcPct val="0"/>
              </a:spcBef>
            </a:pPr>
            <a:r>
              <a:rPr lang="ar-EG" sz="230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  <a:hlinkClick r:id="rId12" tooltip="https://bonyadmaskan.github.io/Systems/AI/InterviewAnalysis_2.html"/>
                <a:rtl/>
              </a:rPr>
              <a:t>گزارش تفصیلی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5749" y="298373"/>
            <a:ext cx="3681640" cy="4410160"/>
            <a:chOff x="0" y="0"/>
            <a:chExt cx="4908853" cy="5880214"/>
          </a:xfrm>
        </p:grpSpPr>
        <p:sp>
          <p:nvSpPr>
            <p:cNvPr id="33" name="AutoShape 33"/>
            <p:cNvSpPr/>
            <p:nvPr/>
          </p:nvSpPr>
          <p:spPr>
            <a:xfrm flipH="1">
              <a:off x="2389575" y="0"/>
              <a:ext cx="0" cy="5847022"/>
            </a:xfrm>
            <a:prstGeom prst="line">
              <a:avLst/>
            </a:prstGeom>
            <a:ln w="43796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740201" y="1500894"/>
              <a:ext cx="1119073" cy="559536"/>
              <a:chOff x="0" y="0"/>
              <a:chExt cx="812800" cy="406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1C679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98500" cy="444500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 rot="-10800000">
              <a:off x="2268921" y="1660008"/>
              <a:ext cx="241307" cy="241307"/>
            </a:xfrm>
            <a:custGeom>
              <a:avLst/>
              <a:gdLst/>
              <a:ahLst/>
              <a:cxnLst/>
              <a:rect l="l" t="t" r="r" b="b"/>
              <a:pathLst>
                <a:path w="241307" h="241307">
                  <a:moveTo>
                    <a:pt x="0" y="0"/>
                  </a:moveTo>
                  <a:lnTo>
                    <a:pt x="241307" y="0"/>
                  </a:lnTo>
                  <a:lnTo>
                    <a:pt x="241307" y="241308"/>
                  </a:lnTo>
                  <a:lnTo>
                    <a:pt x="0" y="241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8" name="Group 38"/>
            <p:cNvGrpSpPr/>
            <p:nvPr/>
          </p:nvGrpSpPr>
          <p:grpSpPr>
            <a:xfrm rot="-10800000">
              <a:off x="1990558" y="308958"/>
              <a:ext cx="1119073" cy="559536"/>
              <a:chOff x="0" y="0"/>
              <a:chExt cx="812800" cy="4064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0E4970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698500" cy="444500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1990558" y="5011719"/>
              <a:ext cx="1119073" cy="559536"/>
              <a:chOff x="0" y="0"/>
              <a:chExt cx="812800" cy="406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0E4970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698500" cy="444500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2971273" y="0"/>
              <a:ext cx="1177452" cy="1177452"/>
            </a:xfrm>
            <a:custGeom>
              <a:avLst/>
              <a:gdLst/>
              <a:ahLst/>
              <a:cxnLst/>
              <a:rect l="l" t="t" r="r" b="b"/>
              <a:pathLst>
                <a:path w="1177452" h="1177452">
                  <a:moveTo>
                    <a:pt x="0" y="0"/>
                  </a:moveTo>
                  <a:lnTo>
                    <a:pt x="1177452" y="0"/>
                  </a:lnTo>
                  <a:lnTo>
                    <a:pt x="1177452" y="1177452"/>
                  </a:lnTo>
                  <a:lnTo>
                    <a:pt x="0" y="117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2971273" y="4702761"/>
              <a:ext cx="1177452" cy="1177452"/>
            </a:xfrm>
            <a:custGeom>
              <a:avLst/>
              <a:gdLst/>
              <a:ahLst/>
              <a:cxnLst/>
              <a:rect l="l" t="t" r="r" b="b"/>
              <a:pathLst>
                <a:path w="1177452" h="1177452">
                  <a:moveTo>
                    <a:pt x="0" y="0"/>
                  </a:moveTo>
                  <a:lnTo>
                    <a:pt x="1177452" y="0"/>
                  </a:lnTo>
                  <a:lnTo>
                    <a:pt x="1177452" y="1177453"/>
                  </a:lnTo>
                  <a:lnTo>
                    <a:pt x="0" y="1177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1615081" y="5496360"/>
              <a:ext cx="128799" cy="167816"/>
            </a:xfrm>
            <a:custGeom>
              <a:avLst/>
              <a:gdLst/>
              <a:ahLst/>
              <a:cxnLst/>
              <a:rect l="l" t="t" r="r" b="b"/>
              <a:pathLst>
                <a:path w="128799" h="167816">
                  <a:moveTo>
                    <a:pt x="0" y="0"/>
                  </a:moveTo>
                  <a:lnTo>
                    <a:pt x="128799" y="0"/>
                  </a:lnTo>
                  <a:lnTo>
                    <a:pt x="128799" y="167816"/>
                  </a:lnTo>
                  <a:lnTo>
                    <a:pt x="0" y="167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2268921" y="468072"/>
              <a:ext cx="241307" cy="241307"/>
            </a:xfrm>
            <a:custGeom>
              <a:avLst/>
              <a:gdLst/>
              <a:ahLst/>
              <a:cxnLst/>
              <a:rect l="l" t="t" r="r" b="b"/>
              <a:pathLst>
                <a:path w="241307" h="241307">
                  <a:moveTo>
                    <a:pt x="0" y="0"/>
                  </a:moveTo>
                  <a:lnTo>
                    <a:pt x="241307" y="0"/>
                  </a:lnTo>
                  <a:lnTo>
                    <a:pt x="241307" y="241308"/>
                  </a:lnTo>
                  <a:lnTo>
                    <a:pt x="0" y="241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2268921" y="5170834"/>
              <a:ext cx="241307" cy="241307"/>
            </a:xfrm>
            <a:custGeom>
              <a:avLst/>
              <a:gdLst/>
              <a:ahLst/>
              <a:cxnLst/>
              <a:rect l="l" t="t" r="r" b="b"/>
              <a:pathLst>
                <a:path w="241307" h="241307">
                  <a:moveTo>
                    <a:pt x="0" y="0"/>
                  </a:moveTo>
                  <a:lnTo>
                    <a:pt x="241307" y="0"/>
                  </a:lnTo>
                  <a:lnTo>
                    <a:pt x="241307" y="241307"/>
                  </a:lnTo>
                  <a:lnTo>
                    <a:pt x="0" y="24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755874" y="1191936"/>
              <a:ext cx="1177452" cy="1177452"/>
            </a:xfrm>
            <a:custGeom>
              <a:avLst/>
              <a:gdLst/>
              <a:ahLst/>
              <a:cxnLst/>
              <a:rect l="l" t="t" r="r" b="b"/>
              <a:pathLst>
                <a:path w="1177452" h="1177452">
                  <a:moveTo>
                    <a:pt x="0" y="0"/>
                  </a:moveTo>
                  <a:lnTo>
                    <a:pt x="1177453" y="0"/>
                  </a:lnTo>
                  <a:lnTo>
                    <a:pt x="1177453" y="1177452"/>
                  </a:lnTo>
                  <a:lnTo>
                    <a:pt x="0" y="117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0" name="Group 50"/>
            <p:cNvGrpSpPr/>
            <p:nvPr/>
          </p:nvGrpSpPr>
          <p:grpSpPr>
            <a:xfrm rot="-10800000">
              <a:off x="1990558" y="2678346"/>
              <a:ext cx="1119073" cy="559536"/>
              <a:chOff x="0" y="0"/>
              <a:chExt cx="812800" cy="4064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0E4970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698500" cy="444500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2971273" y="2369388"/>
              <a:ext cx="1177452" cy="1177452"/>
            </a:xfrm>
            <a:custGeom>
              <a:avLst/>
              <a:gdLst/>
              <a:ahLst/>
              <a:cxnLst/>
              <a:rect l="l" t="t" r="r" b="b"/>
              <a:pathLst>
                <a:path w="1177452" h="1177452">
                  <a:moveTo>
                    <a:pt x="0" y="0"/>
                  </a:moveTo>
                  <a:lnTo>
                    <a:pt x="1177452" y="0"/>
                  </a:lnTo>
                  <a:lnTo>
                    <a:pt x="1177452" y="1177453"/>
                  </a:lnTo>
                  <a:lnTo>
                    <a:pt x="0" y="1177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2268921" y="2837461"/>
              <a:ext cx="241307" cy="241307"/>
            </a:xfrm>
            <a:custGeom>
              <a:avLst/>
              <a:gdLst/>
              <a:ahLst/>
              <a:cxnLst/>
              <a:rect l="l" t="t" r="r" b="b"/>
              <a:pathLst>
                <a:path w="241307" h="241307">
                  <a:moveTo>
                    <a:pt x="0" y="0"/>
                  </a:moveTo>
                  <a:lnTo>
                    <a:pt x="241307" y="0"/>
                  </a:lnTo>
                  <a:lnTo>
                    <a:pt x="241307" y="241307"/>
                  </a:lnTo>
                  <a:lnTo>
                    <a:pt x="0" y="24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5" name="Group 55"/>
            <p:cNvGrpSpPr/>
            <p:nvPr/>
          </p:nvGrpSpPr>
          <p:grpSpPr>
            <a:xfrm>
              <a:off x="1740201" y="3845412"/>
              <a:ext cx="1119073" cy="559536"/>
              <a:chOff x="0" y="0"/>
              <a:chExt cx="812800" cy="4064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1C6799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698500" cy="444500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sp>
          <p:nvSpPr>
            <p:cNvPr id="58" name="Freeform 58"/>
            <p:cNvSpPr/>
            <p:nvPr/>
          </p:nvSpPr>
          <p:spPr>
            <a:xfrm rot="-10800000">
              <a:off x="2268921" y="4004527"/>
              <a:ext cx="241307" cy="241307"/>
            </a:xfrm>
            <a:custGeom>
              <a:avLst/>
              <a:gdLst/>
              <a:ahLst/>
              <a:cxnLst/>
              <a:rect l="l" t="t" r="r" b="b"/>
              <a:pathLst>
                <a:path w="241307" h="241307">
                  <a:moveTo>
                    <a:pt x="0" y="0"/>
                  </a:moveTo>
                  <a:lnTo>
                    <a:pt x="241307" y="0"/>
                  </a:lnTo>
                  <a:lnTo>
                    <a:pt x="241307" y="241307"/>
                  </a:lnTo>
                  <a:lnTo>
                    <a:pt x="0" y="24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>
              <a:off x="755874" y="3536454"/>
              <a:ext cx="1177452" cy="1177452"/>
            </a:xfrm>
            <a:custGeom>
              <a:avLst/>
              <a:gdLst/>
              <a:ahLst/>
              <a:cxnLst/>
              <a:rect l="l" t="t" r="r" b="b"/>
              <a:pathLst>
                <a:path w="1177452" h="1177452">
                  <a:moveTo>
                    <a:pt x="0" y="0"/>
                  </a:moveTo>
                  <a:lnTo>
                    <a:pt x="1177453" y="0"/>
                  </a:lnTo>
                  <a:lnTo>
                    <a:pt x="1177453" y="1177452"/>
                  </a:lnTo>
                  <a:lnTo>
                    <a:pt x="0" y="117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4193186" y="314859"/>
              <a:ext cx="715667" cy="490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3"/>
                </a:lnSpc>
                <a:spcBef>
                  <a:spcPct val="0"/>
                </a:spcBef>
              </a:pPr>
              <a:r>
                <a:rPr lang="en-US" sz="2166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01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94704" y="195351"/>
              <a:ext cx="930589" cy="671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اهداف کلیدی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896159" y="4981596"/>
              <a:ext cx="1297027" cy="671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پیشنهادات عملیاتی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287" y="1426769"/>
              <a:ext cx="1147687" cy="671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دغدغه‌ها و</a:t>
              </a:r>
            </a:p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ریسک‌ها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1612" y="3739117"/>
              <a:ext cx="1147687" cy="671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نیازها و اولویت‌ها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988849" y="2602146"/>
              <a:ext cx="1147687" cy="671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اقدامات</a:t>
              </a:r>
            </a:p>
            <a:p>
              <a:pPr algn="ctr" rtl="1">
                <a:lnSpc>
                  <a:spcPts val="2110"/>
                </a:lnSpc>
              </a:pPr>
              <a:r>
                <a:rPr lang="ar-EG" sz="1241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  <a:rtl/>
                </a:rPr>
                <a:t>برجسته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1468122"/>
              <a:ext cx="715667" cy="490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3"/>
                </a:lnSpc>
                <a:spcBef>
                  <a:spcPct val="0"/>
                </a:spcBef>
              </a:pPr>
              <a:r>
                <a:rPr lang="en-US" sz="2166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02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93186" y="2700042"/>
              <a:ext cx="715667" cy="490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3"/>
                </a:lnSpc>
                <a:spcBef>
                  <a:spcPct val="0"/>
                </a:spcBef>
              </a:pPr>
              <a:r>
                <a:rPr lang="en-US" sz="2166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03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202" y="3851257"/>
              <a:ext cx="715667" cy="490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3"/>
                </a:lnSpc>
                <a:spcBef>
                  <a:spcPct val="0"/>
                </a:spcBef>
              </a:pPr>
              <a:r>
                <a:rPr lang="en-US" sz="2166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04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93186" y="5089571"/>
              <a:ext cx="715667" cy="490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3"/>
                </a:lnSpc>
                <a:spcBef>
                  <a:spcPct val="0"/>
                </a:spcBef>
              </a:pPr>
              <a:r>
                <a:rPr lang="en-US" sz="2166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05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 rot="-10800000">
            <a:off x="4293180" y="2872469"/>
            <a:ext cx="3242053" cy="556531"/>
            <a:chOff x="0" y="0"/>
            <a:chExt cx="4322738" cy="742041"/>
          </a:xfrm>
        </p:grpSpPr>
        <p:grpSp>
          <p:nvGrpSpPr>
            <p:cNvPr id="71" name="Group 71"/>
            <p:cNvGrpSpPr/>
            <p:nvPr/>
          </p:nvGrpSpPr>
          <p:grpSpPr>
            <a:xfrm>
              <a:off x="1973982" y="0"/>
              <a:ext cx="2348756" cy="742041"/>
              <a:chOff x="0" y="0"/>
              <a:chExt cx="1347241" cy="42563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347241" cy="425633"/>
              </a:xfrm>
              <a:custGeom>
                <a:avLst/>
                <a:gdLst/>
                <a:ahLst/>
                <a:cxnLst/>
                <a:rect l="l" t="t" r="r" b="b"/>
                <a:pathLst>
                  <a:path w="1347241" h="425633">
                    <a:moveTo>
                      <a:pt x="1144041" y="0"/>
                    </a:moveTo>
                    <a:lnTo>
                      <a:pt x="0" y="0"/>
                    </a:lnTo>
                    <a:lnTo>
                      <a:pt x="0" y="425633"/>
                    </a:lnTo>
                    <a:lnTo>
                      <a:pt x="1144041" y="425633"/>
                    </a:lnTo>
                    <a:lnTo>
                      <a:pt x="1347241" y="212817"/>
                    </a:lnTo>
                    <a:lnTo>
                      <a:pt x="1144041" y="0"/>
                    </a:lnTo>
                    <a:close/>
                  </a:path>
                </a:pathLst>
              </a:custGeom>
              <a:solidFill>
                <a:srgbClr val="3D8ABD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38100"/>
                <a:ext cx="1232941" cy="463733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0" y="1685"/>
              <a:ext cx="2721344" cy="740356"/>
              <a:chOff x="0" y="0"/>
              <a:chExt cx="837542" cy="227858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37542" cy="227858"/>
              </a:xfrm>
              <a:custGeom>
                <a:avLst/>
                <a:gdLst/>
                <a:ahLst/>
                <a:cxnLst/>
                <a:rect l="l" t="t" r="r" b="b"/>
                <a:pathLst>
                  <a:path w="837542" h="227858">
                    <a:moveTo>
                      <a:pt x="0" y="0"/>
                    </a:moveTo>
                    <a:lnTo>
                      <a:pt x="837542" y="0"/>
                    </a:lnTo>
                    <a:lnTo>
                      <a:pt x="837542" y="227858"/>
                    </a:lnTo>
                    <a:lnTo>
                      <a:pt x="0" y="227858"/>
                    </a:lnTo>
                    <a:close/>
                  </a:path>
                </a:pathLst>
              </a:custGeom>
              <a:solidFill>
                <a:srgbClr val="3D8ABD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0" y="-38100"/>
                <a:ext cx="837542" cy="265958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1851"/>
                  </a:lnSpc>
                </a:pPr>
                <a:endParaRPr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 rot="-10800000">
              <a:off x="0" y="190282"/>
              <a:ext cx="4322738" cy="31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1960"/>
                </a:lnSpc>
              </a:pPr>
              <a:r>
                <a:rPr lang="ar-EG" sz="1580" b="1" spc="126">
                  <a:solidFill>
                    <a:srgbClr val="FCFDFD"/>
                  </a:solidFill>
                  <a:latin typeface="Vazirmatn Bold"/>
                  <a:ea typeface="Vazirmatn Bold"/>
                  <a:cs typeface="Vazirmatn Bold"/>
                  <a:sym typeface="Vazirmatn Bold"/>
                  <a:rtl/>
                </a:rPr>
                <a:t>به کمک هوش مصنوعی (</a:t>
              </a:r>
              <a:r>
                <a:rPr lang="en-US" sz="1580" b="1" spc="126">
                  <a:solidFill>
                    <a:srgbClr val="FCFDFD"/>
                  </a:solidFill>
                  <a:latin typeface="Vazirmatn Bold"/>
                  <a:ea typeface="Vazirmatn Bold"/>
                  <a:cs typeface="Vazirmatn Bold"/>
                  <a:sym typeface="Vazirmatn Bold"/>
                </a:rPr>
                <a:t>AI</a:t>
              </a:r>
              <a:r>
                <a:rPr lang="ar-EG" sz="1580" b="1" spc="126">
                  <a:solidFill>
                    <a:srgbClr val="FCFDFD"/>
                  </a:solidFill>
                  <a:latin typeface="Vazirmatn Bold"/>
                  <a:ea typeface="Vazirmatn Bold"/>
                  <a:cs typeface="Vazirmatn Bold"/>
                  <a:sym typeface="Vazirmatn Bold"/>
                  <a:rtl/>
                </a:rPr>
                <a:t>)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418345" y="1073013"/>
            <a:ext cx="4493077" cy="4524134"/>
            <a:chOff x="0" y="0"/>
            <a:chExt cx="5990770" cy="6032179"/>
          </a:xfrm>
        </p:grpSpPr>
        <p:grpSp>
          <p:nvGrpSpPr>
            <p:cNvPr id="79" name="Group 79"/>
            <p:cNvGrpSpPr/>
            <p:nvPr/>
          </p:nvGrpSpPr>
          <p:grpSpPr>
            <a:xfrm>
              <a:off x="419021" y="26117"/>
              <a:ext cx="5571749" cy="5571749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94E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24166" tIns="24166" rIns="24166" bIns="24166" rtlCol="0" anchor="ctr"/>
              <a:lstStyle/>
              <a:p>
                <a:pPr algn="ctr">
                  <a:lnSpc>
                    <a:spcPts val="1665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0" y="0"/>
              <a:ext cx="5990770" cy="6032179"/>
              <a:chOff x="0" y="0"/>
              <a:chExt cx="1003437" cy="101037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1003437" cy="1010373"/>
              </a:xfrm>
              <a:custGeom>
                <a:avLst/>
                <a:gdLst/>
                <a:ahLst/>
                <a:cxnLst/>
                <a:rect l="l" t="t" r="r" b="b"/>
                <a:pathLst>
                  <a:path w="1003437" h="1010373">
                    <a:moveTo>
                      <a:pt x="501719" y="0"/>
                    </a:moveTo>
                    <a:cubicBezTo>
                      <a:pt x="224627" y="0"/>
                      <a:pt x="0" y="226180"/>
                      <a:pt x="0" y="505186"/>
                    </a:cubicBezTo>
                    <a:cubicBezTo>
                      <a:pt x="0" y="784193"/>
                      <a:pt x="224627" y="1010373"/>
                      <a:pt x="501719" y="1010373"/>
                    </a:cubicBezTo>
                    <a:cubicBezTo>
                      <a:pt x="778810" y="1010373"/>
                      <a:pt x="1003437" y="784193"/>
                      <a:pt x="1003437" y="505186"/>
                    </a:cubicBezTo>
                    <a:cubicBezTo>
                      <a:pt x="1003437" y="226180"/>
                      <a:pt x="778810" y="0"/>
                      <a:pt x="501719" y="0"/>
                    </a:cubicBezTo>
                    <a:close/>
                  </a:path>
                </a:pathLst>
              </a:custGeom>
              <a:blipFill>
                <a:blip r:embed="rId21"/>
                <a:stretch>
                  <a:fillRect l="-25594" r="-25594"/>
                </a:stretch>
              </a:blip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</p:grpSp>
      </p:grpSp>
      <p:grpSp>
        <p:nvGrpSpPr>
          <p:cNvPr id="84" name="Group 84"/>
          <p:cNvGrpSpPr/>
          <p:nvPr/>
        </p:nvGrpSpPr>
        <p:grpSpPr>
          <a:xfrm>
            <a:off x="3182558" y="6329728"/>
            <a:ext cx="1192877" cy="324382"/>
            <a:chOff x="0" y="0"/>
            <a:chExt cx="596614" cy="16223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96614" cy="162239"/>
            </a:xfrm>
            <a:custGeom>
              <a:avLst/>
              <a:gdLst/>
              <a:ahLst/>
              <a:cxnLst/>
              <a:rect l="l" t="t" r="r" b="b"/>
              <a:pathLst>
                <a:path w="596614" h="162239">
                  <a:moveTo>
                    <a:pt x="81119" y="0"/>
                  </a:moveTo>
                  <a:lnTo>
                    <a:pt x="515494" y="0"/>
                  </a:lnTo>
                  <a:cubicBezTo>
                    <a:pt x="537009" y="0"/>
                    <a:pt x="557641" y="8546"/>
                    <a:pt x="572854" y="23759"/>
                  </a:cubicBezTo>
                  <a:cubicBezTo>
                    <a:pt x="588067" y="38972"/>
                    <a:pt x="596614" y="59605"/>
                    <a:pt x="596614" y="81119"/>
                  </a:cubicBezTo>
                  <a:lnTo>
                    <a:pt x="596614" y="81119"/>
                  </a:lnTo>
                  <a:cubicBezTo>
                    <a:pt x="596614" y="102633"/>
                    <a:pt x="588067" y="123266"/>
                    <a:pt x="572854" y="138479"/>
                  </a:cubicBezTo>
                  <a:cubicBezTo>
                    <a:pt x="557641" y="153692"/>
                    <a:pt x="537009" y="162239"/>
                    <a:pt x="515494" y="162239"/>
                  </a:cubicBezTo>
                  <a:lnTo>
                    <a:pt x="81119" y="162239"/>
                  </a:lnTo>
                  <a:cubicBezTo>
                    <a:pt x="59605" y="162239"/>
                    <a:pt x="38972" y="153692"/>
                    <a:pt x="23759" y="138479"/>
                  </a:cubicBezTo>
                  <a:cubicBezTo>
                    <a:pt x="8546" y="123266"/>
                    <a:pt x="0" y="102633"/>
                    <a:pt x="0" y="81119"/>
                  </a:cubicBezTo>
                  <a:lnTo>
                    <a:pt x="0" y="81119"/>
                  </a:lnTo>
                  <a:cubicBezTo>
                    <a:pt x="0" y="59605"/>
                    <a:pt x="8546" y="38972"/>
                    <a:pt x="23759" y="23759"/>
                  </a:cubicBezTo>
                  <a:cubicBezTo>
                    <a:pt x="38972" y="8546"/>
                    <a:pt x="59605" y="0"/>
                    <a:pt x="81119" y="0"/>
                  </a:cubicBezTo>
                  <a:close/>
                </a:path>
              </a:pathLst>
            </a:custGeom>
            <a:solidFill>
              <a:srgbClr val="0A3FA8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596614" cy="181289"/>
            </a:xfrm>
            <a:prstGeom prst="rect">
              <a:avLst/>
            </a:prstGeom>
          </p:spPr>
          <p:txBody>
            <a:bodyPr lIns="13998" tIns="13998" rIns="13998" bIns="13998" rtlCol="0" anchor="ctr"/>
            <a:lstStyle/>
            <a:p>
              <a:pPr algn="ctr">
                <a:lnSpc>
                  <a:spcPts val="694"/>
                </a:lnSpc>
              </a:pPr>
              <a:endParaRPr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3312533" y="6338911"/>
            <a:ext cx="806693" cy="26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208"/>
              </a:lnSpc>
              <a:spcBef>
                <a:spcPct val="0"/>
              </a:spcBef>
            </a:pPr>
            <a:r>
              <a:rPr lang="en-US" sz="1577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  <a:r>
              <a:rPr lang="ar-EG" sz="1577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  <a:rtl/>
              </a:rPr>
              <a:t> ماهه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6196" y="0"/>
            <a:ext cx="5962650" cy="6858000"/>
          </a:xfrm>
          <a:custGeom>
            <a:avLst/>
            <a:gdLst/>
            <a:ahLst/>
            <a:cxnLst/>
            <a:rect l="l" t="t" r="r" b="b"/>
            <a:pathLst>
              <a:path w="5962650" h="6858000">
                <a:moveTo>
                  <a:pt x="5962650" y="0"/>
                </a:moveTo>
                <a:lnTo>
                  <a:pt x="0" y="0"/>
                </a:lnTo>
                <a:lnTo>
                  <a:pt x="0" y="6858000"/>
                </a:lnTo>
                <a:lnTo>
                  <a:pt x="5962650" y="6858000"/>
                </a:lnTo>
                <a:lnTo>
                  <a:pt x="596265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114774" r="-274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88846" y="0"/>
            <a:ext cx="6203154" cy="6858000"/>
          </a:xfrm>
          <a:custGeom>
            <a:avLst/>
            <a:gdLst/>
            <a:ahLst/>
            <a:cxnLst/>
            <a:rect l="l" t="t" r="r" b="b"/>
            <a:pathLst>
              <a:path w="6203154" h="6858000">
                <a:moveTo>
                  <a:pt x="0" y="0"/>
                </a:moveTo>
                <a:lnTo>
                  <a:pt x="6203154" y="0"/>
                </a:lnTo>
                <a:lnTo>
                  <a:pt x="620315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113696" t="-1101" b="-1101"/>
            </a:stretch>
          </a:blipFill>
        </p:spPr>
      </p:sp>
      <p:sp>
        <p:nvSpPr>
          <p:cNvPr id="4" name="Freeform 4">
            <a:hlinkClick r:id="rId3" tooltip="https://bonyadmaskan.github.io/Systems/OverView/GoverView.html"/>
          </p:cNvPr>
          <p:cNvSpPr/>
          <p:nvPr/>
        </p:nvSpPr>
        <p:spPr>
          <a:xfrm>
            <a:off x="1564537" y="1563676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848514" y="1579597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" b="-8"/>
            </a:stretch>
          </a:blipFill>
        </p:spPr>
      </p:sp>
      <p:sp>
        <p:nvSpPr>
          <p:cNvPr id="6" name="Freeform 6">
            <a:hlinkClick r:id="rId6" tooltip="https://bonyadmaskan.github.io/Systems/OverView/NewsView.html"/>
          </p:cNvPr>
          <p:cNvSpPr/>
          <p:nvPr/>
        </p:nvSpPr>
        <p:spPr>
          <a:xfrm>
            <a:off x="9490502" y="1627278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" b="-8"/>
            </a:stretch>
          </a:blipFill>
        </p:spPr>
      </p:sp>
      <p:sp>
        <p:nvSpPr>
          <p:cNvPr id="7" name="Freeform 7">
            <a:hlinkClick r:id="rId8" tooltip="https://bonyadmaskan.github.io/Systems/OverView/Monitoring.html"/>
          </p:cNvPr>
          <p:cNvSpPr/>
          <p:nvPr/>
        </p:nvSpPr>
        <p:spPr>
          <a:xfrm>
            <a:off x="8169508" y="1579597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8" b="-8"/>
            </a:stretch>
          </a:blipFill>
        </p:spPr>
      </p:sp>
      <p:sp>
        <p:nvSpPr>
          <p:cNvPr id="8" name="Freeform 8">
            <a:hlinkClick r:id="rId10" tooltip="https://bonyadmaskan.github.io/Systems/OverView/SystemsView.html"/>
          </p:cNvPr>
          <p:cNvSpPr/>
          <p:nvPr/>
        </p:nvSpPr>
        <p:spPr>
          <a:xfrm>
            <a:off x="1564537" y="28575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8" b="-8"/>
            </a:stretch>
          </a:blipFill>
        </p:spPr>
      </p:sp>
      <p:sp>
        <p:nvSpPr>
          <p:cNvPr id="9" name="Freeform 9">
            <a:hlinkClick r:id="rId12" tooltip="https://bonyadmaskan.github.io/Systems/OverView/UnitsView.html"/>
          </p:cNvPr>
          <p:cNvSpPr/>
          <p:nvPr/>
        </p:nvSpPr>
        <p:spPr>
          <a:xfrm>
            <a:off x="246215" y="54811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8" b="-8"/>
            </a:stretch>
          </a:blipFill>
        </p:spPr>
      </p:sp>
      <p:sp>
        <p:nvSpPr>
          <p:cNvPr id="10" name="Freeform 10">
            <a:hlinkClick r:id="rId14" tooltip="https://bonyadmaskan.github.io/Systems/OverView/ProvincesView.html"/>
          </p:cNvPr>
          <p:cNvSpPr/>
          <p:nvPr/>
        </p:nvSpPr>
        <p:spPr>
          <a:xfrm>
            <a:off x="10811496" y="1627278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5" y="0"/>
                </a:lnTo>
                <a:lnTo>
                  <a:pt x="1092395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8" b="-8"/>
            </a:stretch>
          </a:blipFill>
        </p:spPr>
      </p:sp>
      <p:sp>
        <p:nvSpPr>
          <p:cNvPr id="11" name="Freeform 11">
            <a:hlinkClick r:id="rId16" tooltip="https://bonyadmaskan.github.io/Systems/OverView/ContactBoss.html"/>
          </p:cNvPr>
          <p:cNvSpPr/>
          <p:nvPr/>
        </p:nvSpPr>
        <p:spPr>
          <a:xfrm>
            <a:off x="5527520" y="1595518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8" b="-8"/>
            </a:stretch>
          </a:blipFill>
        </p:spPr>
      </p:sp>
      <p:sp>
        <p:nvSpPr>
          <p:cNvPr id="12" name="Freeform 12">
            <a:hlinkClick r:id="rId18" tooltip="https://bonyadmaskan.github.io/Systems/OverView/HrmView.html"/>
          </p:cNvPr>
          <p:cNvSpPr/>
          <p:nvPr/>
        </p:nvSpPr>
        <p:spPr>
          <a:xfrm>
            <a:off x="2885531" y="54811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8" b="-8"/>
            </a:stretch>
          </a:blipFill>
        </p:spPr>
      </p:sp>
      <p:sp>
        <p:nvSpPr>
          <p:cNvPr id="13" name="Freeform 13">
            <a:hlinkClick r:id="rId20" tooltip="https://bonyadmaskan.github.io/Systems/OverView/GisView.html"/>
          </p:cNvPr>
          <p:cNvSpPr/>
          <p:nvPr/>
        </p:nvSpPr>
        <p:spPr>
          <a:xfrm>
            <a:off x="4206525" y="1579597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5" y="0"/>
                </a:lnTo>
                <a:lnTo>
                  <a:pt x="1092395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8" b="-8"/>
            </a:stretch>
          </a:blipFill>
        </p:spPr>
      </p:sp>
      <p:sp>
        <p:nvSpPr>
          <p:cNvPr id="14" name="Freeform 14">
            <a:hlinkClick r:id="rId22" tooltip="https://bonyadmaskan.github.io/Systems/OverView/ParlemanPage.html"/>
          </p:cNvPr>
          <p:cNvSpPr/>
          <p:nvPr/>
        </p:nvSpPr>
        <p:spPr>
          <a:xfrm>
            <a:off x="246215" y="1579597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t="-8" b="-8"/>
            </a:stretch>
          </a:blipFill>
        </p:spPr>
      </p:sp>
      <p:sp>
        <p:nvSpPr>
          <p:cNvPr id="15" name="Freeform 15">
            <a:hlinkClick r:id="rId24" tooltip="https://bonyadmaskan.github.io/Systems/OverView/CentralCouncil.html"/>
          </p:cNvPr>
          <p:cNvSpPr/>
          <p:nvPr/>
        </p:nvSpPr>
        <p:spPr>
          <a:xfrm>
            <a:off x="2885531" y="1579597"/>
            <a:ext cx="1092394" cy="1177868"/>
          </a:xfrm>
          <a:custGeom>
            <a:avLst/>
            <a:gdLst/>
            <a:ahLst/>
            <a:cxnLst/>
            <a:rect l="l" t="t" r="r" b="b"/>
            <a:pathLst>
              <a:path w="1092394" h="1177868">
                <a:moveTo>
                  <a:pt x="0" y="0"/>
                </a:moveTo>
                <a:lnTo>
                  <a:pt x="1092394" y="0"/>
                </a:lnTo>
                <a:lnTo>
                  <a:pt x="1092394" y="1177868"/>
                </a:lnTo>
                <a:lnTo>
                  <a:pt x="0" y="117786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t="-8" b="-8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98208" y="5904014"/>
            <a:ext cx="588066" cy="730104"/>
          </a:xfrm>
          <a:custGeom>
            <a:avLst/>
            <a:gdLst/>
            <a:ahLst/>
            <a:cxnLst/>
            <a:rect l="l" t="t" r="r" b="b"/>
            <a:pathLst>
              <a:path w="588066" h="730104">
                <a:moveTo>
                  <a:pt x="0" y="0"/>
                </a:moveTo>
                <a:lnTo>
                  <a:pt x="588066" y="0"/>
                </a:lnTo>
                <a:lnTo>
                  <a:pt x="588066" y="730104"/>
                </a:lnTo>
                <a:lnTo>
                  <a:pt x="0" y="73010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028688" y="5208934"/>
            <a:ext cx="2204087" cy="2216175"/>
          </a:xfrm>
          <a:custGeom>
            <a:avLst/>
            <a:gdLst/>
            <a:ahLst/>
            <a:cxnLst/>
            <a:rect l="l" t="t" r="r" b="b"/>
            <a:pathLst>
              <a:path w="2204087" h="2216175">
                <a:moveTo>
                  <a:pt x="0" y="0"/>
                </a:moveTo>
                <a:lnTo>
                  <a:pt x="2204087" y="0"/>
                </a:lnTo>
                <a:lnTo>
                  <a:pt x="2204087" y="2216175"/>
                </a:lnTo>
                <a:lnTo>
                  <a:pt x="0" y="221617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16329" y="54811"/>
            <a:ext cx="1914402" cy="811049"/>
          </a:xfrm>
          <a:custGeom>
            <a:avLst/>
            <a:gdLst/>
            <a:ahLst/>
            <a:cxnLst/>
            <a:rect l="l" t="t" r="r" b="b"/>
            <a:pathLst>
              <a:path w="1914402" h="811049">
                <a:moveTo>
                  <a:pt x="0" y="0"/>
                </a:moveTo>
                <a:lnTo>
                  <a:pt x="1914402" y="0"/>
                </a:lnTo>
                <a:lnTo>
                  <a:pt x="1914402" y="811049"/>
                </a:lnTo>
                <a:lnTo>
                  <a:pt x="0" y="81104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78006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54545" y="3188212"/>
            <a:ext cx="865736" cy="957044"/>
          </a:xfrm>
          <a:custGeom>
            <a:avLst/>
            <a:gdLst/>
            <a:ahLst/>
            <a:cxnLst/>
            <a:rect l="l" t="t" r="r" b="b"/>
            <a:pathLst>
              <a:path w="865736" h="957044">
                <a:moveTo>
                  <a:pt x="0" y="0"/>
                </a:moveTo>
                <a:lnTo>
                  <a:pt x="865736" y="0"/>
                </a:lnTo>
                <a:lnTo>
                  <a:pt x="865736" y="957044"/>
                </a:lnTo>
                <a:lnTo>
                  <a:pt x="0" y="95704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01281" y="3188212"/>
            <a:ext cx="834678" cy="1029602"/>
          </a:xfrm>
          <a:custGeom>
            <a:avLst/>
            <a:gdLst/>
            <a:ahLst/>
            <a:cxnLst/>
            <a:rect l="l" t="t" r="r" b="b"/>
            <a:pathLst>
              <a:path w="834678" h="1029602">
                <a:moveTo>
                  <a:pt x="0" y="0"/>
                </a:moveTo>
                <a:lnTo>
                  <a:pt x="834678" y="0"/>
                </a:lnTo>
                <a:lnTo>
                  <a:pt x="834678" y="1029602"/>
                </a:lnTo>
                <a:lnTo>
                  <a:pt x="0" y="102960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3556" y="3116107"/>
            <a:ext cx="1564420" cy="885967"/>
          </a:xfrm>
          <a:custGeom>
            <a:avLst/>
            <a:gdLst/>
            <a:ahLst/>
            <a:cxnLst/>
            <a:rect l="l" t="t" r="r" b="b"/>
            <a:pathLst>
              <a:path w="1564420" h="885967">
                <a:moveTo>
                  <a:pt x="0" y="0"/>
                </a:moveTo>
                <a:lnTo>
                  <a:pt x="1564420" y="0"/>
                </a:lnTo>
                <a:lnTo>
                  <a:pt x="1564420" y="885967"/>
                </a:lnTo>
                <a:lnTo>
                  <a:pt x="0" y="88596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9129" t="-43196" r="-10193" b="-67501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440554" y="3188212"/>
            <a:ext cx="805502" cy="983550"/>
          </a:xfrm>
          <a:custGeom>
            <a:avLst/>
            <a:gdLst/>
            <a:ahLst/>
            <a:cxnLst/>
            <a:rect l="l" t="t" r="r" b="b"/>
            <a:pathLst>
              <a:path w="805502" h="983550">
                <a:moveTo>
                  <a:pt x="0" y="0"/>
                </a:moveTo>
                <a:lnTo>
                  <a:pt x="805501" y="0"/>
                </a:lnTo>
                <a:lnTo>
                  <a:pt x="805501" y="983549"/>
                </a:lnTo>
                <a:lnTo>
                  <a:pt x="0" y="98354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559394" y="3260927"/>
            <a:ext cx="1304472" cy="922760"/>
          </a:xfrm>
          <a:custGeom>
            <a:avLst/>
            <a:gdLst/>
            <a:ahLst/>
            <a:cxnLst/>
            <a:rect l="l" t="t" r="r" b="b"/>
            <a:pathLst>
              <a:path w="1304472" h="922760">
                <a:moveTo>
                  <a:pt x="0" y="0"/>
                </a:moveTo>
                <a:lnTo>
                  <a:pt x="1304472" y="0"/>
                </a:lnTo>
                <a:lnTo>
                  <a:pt x="1304472" y="922761"/>
                </a:lnTo>
                <a:lnTo>
                  <a:pt x="0" y="92276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b="-7556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963637" y="3339532"/>
            <a:ext cx="2057927" cy="692835"/>
          </a:xfrm>
          <a:custGeom>
            <a:avLst/>
            <a:gdLst/>
            <a:ahLst/>
            <a:cxnLst/>
            <a:rect l="l" t="t" r="r" b="b"/>
            <a:pathLst>
              <a:path w="2057927" h="692835">
                <a:moveTo>
                  <a:pt x="0" y="0"/>
                </a:moveTo>
                <a:lnTo>
                  <a:pt x="2057927" y="0"/>
                </a:lnTo>
                <a:lnTo>
                  <a:pt x="2057927" y="692835"/>
                </a:lnTo>
                <a:lnTo>
                  <a:pt x="0" y="69283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46215" y="5706077"/>
            <a:ext cx="10268126" cy="932247"/>
          </a:xfrm>
          <a:custGeom>
            <a:avLst/>
            <a:gdLst/>
            <a:ahLst/>
            <a:cxnLst/>
            <a:rect l="l" t="t" r="r" b="b"/>
            <a:pathLst>
              <a:path w="10268126" h="932247">
                <a:moveTo>
                  <a:pt x="0" y="0"/>
                </a:moveTo>
                <a:lnTo>
                  <a:pt x="10268125" y="0"/>
                </a:lnTo>
                <a:lnTo>
                  <a:pt x="10268125" y="932246"/>
                </a:lnTo>
                <a:lnTo>
                  <a:pt x="0" y="932246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072014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146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039504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169088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136730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104372" y="4509725"/>
            <a:ext cx="1734803" cy="867401"/>
          </a:xfrm>
          <a:custGeom>
            <a:avLst/>
            <a:gdLst/>
            <a:ahLst/>
            <a:cxnLst/>
            <a:rect l="l" t="t" r="r" b="b"/>
            <a:pathLst>
              <a:path w="1734803" h="867401">
                <a:moveTo>
                  <a:pt x="0" y="0"/>
                </a:moveTo>
                <a:lnTo>
                  <a:pt x="1734803" y="0"/>
                </a:lnTo>
                <a:lnTo>
                  <a:pt x="1734803" y="867401"/>
                </a:lnTo>
                <a:lnTo>
                  <a:pt x="0" y="867401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2046172" y="3319592"/>
            <a:ext cx="2089273" cy="682482"/>
          </a:xfrm>
          <a:custGeom>
            <a:avLst/>
            <a:gdLst/>
            <a:ahLst/>
            <a:cxnLst/>
            <a:rect l="l" t="t" r="r" b="b"/>
            <a:pathLst>
              <a:path w="2089273" h="682482">
                <a:moveTo>
                  <a:pt x="0" y="0"/>
                </a:moveTo>
                <a:lnTo>
                  <a:pt x="2089273" y="0"/>
                </a:lnTo>
                <a:lnTo>
                  <a:pt x="2089273" y="682482"/>
                </a:lnTo>
                <a:lnTo>
                  <a:pt x="0" y="682482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846306" y="329430"/>
            <a:ext cx="4904809" cy="549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498"/>
              </a:lnSpc>
            </a:pPr>
            <a:r>
              <a:rPr lang="ar-EG" sz="3213">
                <a:solidFill>
                  <a:srgbClr val="1800AD"/>
                </a:solidFill>
                <a:latin typeface="Titr"/>
                <a:ea typeface="Titr"/>
                <a:cs typeface="Titr"/>
                <a:sym typeface="Titr"/>
                <a:rtl/>
              </a:rPr>
              <a:t>سامانه مدیریتی ریاست بنیاد مسکن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271</Words>
  <Application>Microsoft Office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Public Sans Bold</vt:lpstr>
      <vt:lpstr>Arial</vt:lpstr>
      <vt:lpstr>IRANSans</vt:lpstr>
      <vt:lpstr>XB Titre</vt:lpstr>
      <vt:lpstr>Calibri</vt:lpstr>
      <vt:lpstr>Titr</vt:lpstr>
      <vt:lpstr>Vazirmatn Bold</vt:lpstr>
      <vt:lpstr>Garet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- BOSS HomePage</dc:title>
  <cp:lastModifiedBy>Ali Asgari</cp:lastModifiedBy>
  <cp:revision>7</cp:revision>
  <dcterms:created xsi:type="dcterms:W3CDTF">2006-08-16T00:00:00Z</dcterms:created>
  <dcterms:modified xsi:type="dcterms:W3CDTF">2026-01-06T07:51:44Z</dcterms:modified>
  <dc:identifier>DAG8xWX-q_E</dc:identifier>
</cp:coreProperties>
</file>